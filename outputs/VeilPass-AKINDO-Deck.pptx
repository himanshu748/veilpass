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88069a8a9e4daf" /><Relationship Type="http://schemas.openxmlformats.org/officeDocument/2006/relationships/extended-properties" Target="/docProps/app.xml" Id="R4a0c33e9cdcc4e84" /><Relationship Type="http://schemas.openxmlformats.org/officeDocument/2006/relationships/officeDocument" Target="/ppt/presentation.xml" Id="R1739ec4934d849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89caec7e24628"/>
  </p:sldMasterIdLst>
  <p:notesMasterIdLst>
    <p:notesMasterId xmlns:r="http://schemas.openxmlformats.org/officeDocument/2006/relationships" r:id="Raba00770694e4e23"/>
  </p:notesMasterIdLst>
  <p:sldIdLst>
    <p:sldId xmlns:r="http://schemas.openxmlformats.org/officeDocument/2006/relationships" id="256" r:id="R08f6a04c75634f22"/>
    <p:sldId xmlns:r="http://schemas.openxmlformats.org/officeDocument/2006/relationships" id="257" r:id="R52f5a329274c45ba"/>
    <p:sldId xmlns:r="http://schemas.openxmlformats.org/officeDocument/2006/relationships" id="258" r:id="Rfbd5aaa73edb4843"/>
    <p:sldId xmlns:r="http://schemas.openxmlformats.org/officeDocument/2006/relationships" id="259" r:id="R1205baf778084170"/>
    <p:sldId xmlns:r="http://schemas.openxmlformats.org/officeDocument/2006/relationships" id="260" r:id="R15c77c0d6ecd43df"/>
    <p:sldId xmlns:r="http://schemas.openxmlformats.org/officeDocument/2006/relationships" id="261" r:id="R22ad0e1c38a84eab"/>
    <p:sldId xmlns:r="http://schemas.openxmlformats.org/officeDocument/2006/relationships" id="262" r:id="Rfd7c50831d3c444a"/>
    <p:sldId xmlns:r="http://schemas.openxmlformats.org/officeDocument/2006/relationships" id="263" r:id="Rede17ebe3d0246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f9c4ce0ed449f" /><Relationship Type="http://schemas.openxmlformats.org/officeDocument/2006/relationships/slideMaster" Target="/ppt/slideMasters/slideMaster1.xml" Id="Read89caec7e24628" /><Relationship Type="http://schemas.openxmlformats.org/officeDocument/2006/relationships/notesMaster" Target="/ppt/notesMasters/notesMaster1.xml" Id="Raba00770694e4e23" /><Relationship Type="http://schemas.openxmlformats.org/officeDocument/2006/relationships/presProps" Target="/ppt/presProps.xml" Id="R7c99b41110ae4f28" /><Relationship Type="http://schemas.openxmlformats.org/officeDocument/2006/relationships/tableStyles" Target="/ppt/tableStyles.xml" Id="R4d38b6302c8e4cf7" /><Relationship Type="http://schemas.openxmlformats.org/officeDocument/2006/relationships/slide" Target="/ppt/slides/slide1.xml" Id="R08f6a04c75634f22" /><Relationship Type="http://schemas.openxmlformats.org/officeDocument/2006/relationships/slide" Target="/ppt/slides/slide2.xml" Id="R52f5a329274c45ba" /><Relationship Type="http://schemas.openxmlformats.org/officeDocument/2006/relationships/slide" Target="/ppt/slides/slide3.xml" Id="Rfbd5aaa73edb4843" /><Relationship Type="http://schemas.openxmlformats.org/officeDocument/2006/relationships/slide" Target="/ppt/slides/slide4.xml" Id="R1205baf778084170" /><Relationship Type="http://schemas.openxmlformats.org/officeDocument/2006/relationships/slide" Target="/ppt/slides/slide5.xml" Id="R15c77c0d6ecd43df" /><Relationship Type="http://schemas.openxmlformats.org/officeDocument/2006/relationships/slide" Target="/ppt/slides/slide6.xml" Id="R22ad0e1c38a84eab" /><Relationship Type="http://schemas.openxmlformats.org/officeDocument/2006/relationships/slide" Target="/ppt/slides/slide7.xml" Id="Rfd7c50831d3c444a" /><Relationship Type="http://schemas.openxmlformats.org/officeDocument/2006/relationships/slide" Target="/ppt/slides/slide8.xml" Id="Rede17ebe3d0246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b589f68b50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8eab065050410b" /><Relationship Type="http://schemas.openxmlformats.org/officeDocument/2006/relationships/notesMaster" Target="/ppt/notesMasters/notesMaster1.xml" Id="R635bacbc0a9841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e4be7219f14079" /><Relationship Type="http://schemas.openxmlformats.org/officeDocument/2006/relationships/notesMaster" Target="/ppt/notesMasters/notesMaster1.xml" Id="R47d7124a025b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c0db9220544ecb" /><Relationship Type="http://schemas.openxmlformats.org/officeDocument/2006/relationships/notesMaster" Target="/ppt/notesMasters/notesMaster1.xml" Id="R4158b18a852d4b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0751b49a44450a" /><Relationship Type="http://schemas.openxmlformats.org/officeDocument/2006/relationships/notesMaster" Target="/ppt/notesMasters/notesMaster1.xml" Id="R88d5c9aecca649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f4aa01b1a94f81" /><Relationship Type="http://schemas.openxmlformats.org/officeDocument/2006/relationships/notesMaster" Target="/ppt/notesMasters/notesMaster1.xml" Id="R0e9e3ba8a9524b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2086c3d485479b" /><Relationship Type="http://schemas.openxmlformats.org/officeDocument/2006/relationships/notesMaster" Target="/ppt/notesMasters/notesMaster1.xml" Id="R5a6c34e8b4474e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36a9e25a4841af" /><Relationship Type="http://schemas.openxmlformats.org/officeDocument/2006/relationships/notesMaster" Target="/ppt/notesMasters/notesMaster1.xml" Id="R0863627800cf49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e38bbafb314742" /><Relationship Type="http://schemas.openxmlformats.org/officeDocument/2006/relationships/notesMaster" Target="/ppt/notesMasters/notesMaster1.xml" Id="R8ac505822b3a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contract/src/veilpass.compact</a:t>
            </a:r>
          </a:p>
          <a:p xmlns:a="http://schemas.openxmlformats.org/drawingml/2006/main">
            <a:r>
              <a:t>- generated/managed/veilpass/contract/index.js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problem statement, no external numerical claim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contract/src/veilpass.compact</a:t>
            </a:r>
          </a:p>
          <a:p xmlns:a="http://schemas.openxmlformats.org/drawingml/2006/main">
            <a:r>
              <a:t>- src/lib/compact.ts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work/qa/veilpass-compact-desktop-viewport.png, captured from the tested local 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contract/src/veilpass.compact</a:t>
            </a:r>
          </a:p>
          <a:p xmlns:a="http://schemas.openxmlformats.org/drawingml/2006/main">
            <a:r>
              <a:t>- generated/managed/veilpass/contract/index.js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npm test</a:t>
            </a:r>
          </a:p>
          <a:p xmlns:a="http://schemas.openxmlformats.org/drawingml/2006/main">
            <a:r>
              <a:t>- npm run build</a:t>
            </a:r>
          </a:p>
          <a:p xmlns:a="http://schemas.openxmlformats.org/drawingml/2006/main">
            <a:r>
              <a:t>- npm audit --omit=dev --audit-level=high</a:t>
            </a:r>
          </a:p>
          <a:p xmlns:a="http://schemas.openxmlformats.org/drawingml/2006/main">
            <a:r>
              <a:t>- security_best_practices_report.md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extension examples, no external numerical claim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outputs/veilpass-akindo-submission.md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bb35c03d645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8603c3524c4c58" /><Relationship Type="http://schemas.openxmlformats.org/officeDocument/2006/relationships/slideLayout" Target="/ppt/slideLayouts/slideLayout1.xml" Id="R345b4f451c534f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5b4f451c534f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ab9c7f1ba44bf" /><Relationship Type="http://schemas.openxmlformats.org/officeDocument/2006/relationships/image" Target="/ppt/media/image.png" Id="R82b18ee357504674" /><Relationship Type="http://schemas.openxmlformats.org/officeDocument/2006/relationships/notesSlide" Target="/ppt/notesSlides/notesSlide1.xml" Id="Rc4671121765f40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f4689c3fa417d" /><Relationship Type="http://schemas.openxmlformats.org/officeDocument/2006/relationships/notesSlide" Target="/ppt/notesSlides/notesSlide2.xml" Id="R91967e6d2cfc40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ff96f15804cc3" /><Relationship Type="http://schemas.openxmlformats.org/officeDocument/2006/relationships/notesSlide" Target="/ppt/notesSlides/notesSlide3.xml" Id="Rf395f90fb6c1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dab3c36f2409e" /><Relationship Type="http://schemas.openxmlformats.org/officeDocument/2006/relationships/image" Target="/ppt/media/image.jpeg" Id="Rcc01b3ccecc743a8" /><Relationship Type="http://schemas.openxmlformats.org/officeDocument/2006/relationships/notesSlide" Target="/ppt/notesSlides/notesSlide4.xml" Id="Rf9c245788e2849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a992c8bb742f0" /><Relationship Type="http://schemas.openxmlformats.org/officeDocument/2006/relationships/notesSlide" Target="/ppt/notesSlides/notesSlide5.xml" Id="R87d8c5b118654c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053e99f644ec6" /><Relationship Type="http://schemas.openxmlformats.org/officeDocument/2006/relationships/notesSlide" Target="/ppt/notesSlides/notesSlide6.xml" Id="R1bc79685efce45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491fde12c4126" /><Relationship Type="http://schemas.openxmlformats.org/officeDocument/2006/relationships/notesSlide" Target="/ppt/notesSlides/notesSlide7.xml" Id="R588ab52d57bc40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f4b160d9746ff" /><Relationship Type="http://schemas.openxmlformats.org/officeDocument/2006/relationships/notesSlide" Target="/ppt/notesSlides/notesSlide8.xml" Id="R198a6a3b4c5d4d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517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int-signal">
            <a:extLst xmlns:a="http://schemas.openxmlformats.org/drawingml/2006/main">
              <a:ext uri="{FF2B5EF4-FFF2-40B4-BE49-F238E27FC236}">
                <a16:creationId xmlns:a16="http://schemas.microsoft.com/office/drawing/2014/main" id="{C1947859-D607-4C3E-8966-CA06641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9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18ee357504674"/>
          <a:stretch xmlns:a="http://schemas.openxmlformats.org/drawingml/2006/main"/>
        </p:blipFill>
        <p:spPr>
          <a:xfrm xmlns:a="http://schemas.openxmlformats.org/drawingml/2006/main">
            <a:off x="762000" y="5524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6AABF487-239E-4022-8317-4952750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6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VEILPASS</a:t>
            </a:r>
          </a:p>
        </p:txBody>
      </p:sp>
      <p:sp>
        <p:nvSpPr>
          <p:cNvPr id="4" name="hero">
            <a:extLst xmlns:a="http://schemas.openxmlformats.org/drawingml/2006/main">
              <a:ext uri="{FF2B5EF4-FFF2-40B4-BE49-F238E27FC236}">
                <a16:creationId xmlns:a16="http://schemas.microsoft.com/office/drawing/2014/main" id="{0CF98599-FF9D-4419-AEC2-E94F182D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8382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Prove eligibility.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Keep the credential private.</a:t>
            </a:r>
          </a:p>
        </p:txBody>
      </p:sp>
      <p:sp>
        <p:nvSpPr>
          <p:cNvPr id="5" name="sub">
            <a:extLst xmlns:a="http://schemas.openxmlformats.org/drawingml/2006/main">
              <a:ext uri="{FF2B5EF4-FFF2-40B4-BE49-F238E27FC236}">
                <a16:creationId xmlns:a16="http://schemas.microsoft.com/office/drawing/2014/main" id="{373079D1-0E29-47CE-83E3-049288C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9D4FF"/>
                </a:solidFill>
              </a:defRPr>
            </a:pPr>
            <a:r>
              <a:rPr sz="1875" b="0">
                <a:solidFill>
                  <a:srgbClr val="D9D4FF"/>
                </a:solidFill>
              </a:rPr>
              <a:t>A selective-disclosure age check built with Midnight Compact.</a:t>
            </a:r>
          </a:p>
        </p:txBody>
      </p:sp>
      <p:sp>
        <p:nvSpPr>
          <p:cNvPr id="6" name="pill-Compact contract compiled">
            <a:extLst xmlns:a="http://schemas.openxmlformats.org/drawingml/2006/main">
              <a:ext uri="{FF2B5EF4-FFF2-40B4-BE49-F238E27FC236}">
                <a16:creationId xmlns:a16="http://schemas.microsoft.com/office/drawing/2014/main" id="{6057A7F9-F2C5-4A9D-A7A3-C117B16F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209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l-text-Compact contract compiled">
            <a:extLst xmlns:a="http://schemas.openxmlformats.org/drawingml/2006/main">
              <a:ext uri="{FF2B5EF4-FFF2-40B4-BE49-F238E27FC236}">
                <a16:creationId xmlns:a16="http://schemas.microsoft.com/office/drawing/2014/main" id="{35288B1C-C9B0-457F-AD09-0A97902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51777"/>
                </a:solidFill>
              </a:defRPr>
            </a:pPr>
            <a:r>
              <a:rPr sz="825" b="1">
                <a:solidFill>
                  <a:srgbClr val="251777"/>
                </a:solidFill>
              </a:rPr>
              <a:t>COMPACT CONTRACT COMPILED</a:t>
            </a:r>
          </a:p>
        </p:txBody>
      </p:sp>
      <p:sp>
        <p:nvSpPr>
          <p:cNvPr id="8" name="event">
            <a:extLst xmlns:a="http://schemas.openxmlformats.org/drawingml/2006/main">
              <a:ext uri="{FF2B5EF4-FFF2-40B4-BE49-F238E27FC236}">
                <a16:creationId xmlns:a16="http://schemas.microsoft.com/office/drawing/2014/main" id="{7FC09DCB-B607-456D-8C7F-05BA333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9B1F4"/>
                </a:solidFill>
              </a:defRPr>
            </a:pPr>
            <a:r>
              <a:rPr sz="975" b="1">
                <a:solidFill>
                  <a:srgbClr val="B9B1F4"/>
                </a:solidFill>
              </a:rPr>
              <a:t>MIDNIGHT BUILDATHON · AKINDO</a:t>
            </a:r>
          </a:p>
        </p:txBody>
      </p:sp>
      <p:sp>
        <p:nvSpPr>
          <p:cNvPr id="9" name="counter">
            <a:extLst xmlns:a="http://schemas.openxmlformats.org/drawingml/2006/main">
              <a:ext uri="{FF2B5EF4-FFF2-40B4-BE49-F238E27FC236}">
                <a16:creationId xmlns:a16="http://schemas.microsoft.com/office/drawing/2014/main" id="{49172D47-8118-4FA2-AC30-BAA63A8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57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9B1F4"/>
                </a:solidFill>
              </a:defRPr>
            </a:pPr>
            <a:r>
              <a:rPr sz="975" b="1">
                <a:solidFill>
                  <a:srgbClr val="B9B1F4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58391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-2">
            <a:extLst xmlns:a="http://schemas.openxmlformats.org/drawingml/2006/main">
              <a:ext uri="{FF2B5EF4-FFF2-40B4-BE49-F238E27FC236}">
                <a16:creationId xmlns:a16="http://schemas.microsoft.com/office/drawing/2014/main" id="{CD8615D8-0518-44E1-A5D4-69FCF326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553AA198-B48E-49C0-8428-70669719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THE PROBLEM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510227BF-851A-4A9C-B764-CC8B8DD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title-Most age che">
            <a:extLst xmlns:a="http://schemas.openxmlformats.org/drawingml/2006/main">
              <a:ext uri="{FF2B5EF4-FFF2-40B4-BE49-F238E27FC236}">
                <a16:creationId xmlns:a16="http://schemas.microsoft.com/office/drawing/2014/main" id="{053C22B2-BCEB-4217-934C-C5A8CD11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90B12"/>
                </a:solidFill>
              </a:defRPr>
            </a:pPr>
            <a:r>
              <a:rPr sz="3225" b="1">
                <a:solidFill>
                  <a:srgbClr val="090B12"/>
                </a:solidFill>
              </a:rPr>
              <a:t>Most age checks collect a file to learn one bit.</a:t>
            </a:r>
          </a:p>
        </p:txBody>
      </p:sp>
      <p:sp>
        <p:nvSpPr>
          <p:cNvPr id="5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77D67687-206E-401A-863B-FD3FCF71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A verifier needs YES or NO. Conventional flows expose a date of birth, an identity document and a retention burden.</a:t>
            </a:r>
          </a:p>
        </p:txBody>
      </p:sp>
      <p:sp>
        <p:nvSpPr>
          <p:cNvPr id="6" name="input-label">
            <a:extLst xmlns:a="http://schemas.openxmlformats.org/drawingml/2006/main">
              <a:ext uri="{FF2B5EF4-FFF2-40B4-BE49-F238E27FC236}">
                <a16:creationId xmlns:a16="http://schemas.microsoft.com/office/drawing/2014/main" id="{0F8918B1-A9C1-4571-92FA-2E690D0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2AC7"/>
                </a:solidFill>
              </a:defRPr>
            </a:pPr>
            <a:r>
              <a:rPr sz="900" b="1">
                <a:solidFill>
                  <a:srgbClr val="3F2AC7"/>
                </a:solidFill>
              </a:rPr>
              <a:t>WHAT GETS COLLECTED</a:t>
            </a:r>
          </a:p>
        </p:txBody>
      </p:sp>
      <p:sp>
        <p:nvSpPr>
          <p:cNvPr id="7" name="inputs">
            <a:extLst xmlns:a="http://schemas.openxmlformats.org/drawingml/2006/main">
              <a:ext uri="{FF2B5EF4-FFF2-40B4-BE49-F238E27FC236}">
                <a16:creationId xmlns:a16="http://schemas.microsoft.com/office/drawing/2014/main" id="{059D69CF-A6B9-41CA-8D83-7A79BCDD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90B12"/>
                </a:solidFill>
              </a:defRPr>
            </a:pPr>
            <a:r>
              <a:rPr sz="2250" b="1">
                <a:solidFill>
                  <a:srgbClr val="090B12"/>
                </a:solidFill>
              </a:rPr>
              <a:t>Full birth date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90B12"/>
                </a:solidFill>
              </a:defRPr>
            </a:pPr>
            <a:r>
              <a:rPr sz="2250" b="1">
                <a:solidFill>
                  <a:srgbClr val="090B12"/>
                </a:solidFill>
              </a:rPr>
              <a:t>Government ID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90B12"/>
                </a:solidFill>
              </a:defRPr>
            </a:pPr>
            <a:r>
              <a:rPr sz="2250" b="1">
                <a:solidFill>
                  <a:srgbClr val="090B12"/>
                </a:solidFill>
              </a:rPr>
              <a:t>Document image</a:t>
            </a:r>
          </a:p>
        </p:txBody>
      </p:sp>
      <p:sp>
        <p:nvSpPr>
          <p:cNvPr id="8" name="vertical-rule">
            <a:extLst xmlns:a="http://schemas.openxmlformats.org/drawingml/2006/main">
              <a:ext uri="{FF2B5EF4-FFF2-40B4-BE49-F238E27FC236}">
                <a16:creationId xmlns:a16="http://schemas.microsoft.com/office/drawing/2014/main" id="{FCD62A0F-E6E1-4FB2-963D-716B240F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9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533D65D-87F6-4F28-99EE-B1914C00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8B70"/>
                </a:solidFill>
              </a:defRPr>
            </a:pPr>
            <a:r>
              <a:rPr sz="900" b="1">
                <a:solidFill>
                  <a:srgbClr val="008B70"/>
                </a:solidFill>
              </a:rPr>
              <a:t>WHAT THE POLICY NEEDS</a:t>
            </a:r>
          </a:p>
        </p:txBody>
      </p:sp>
      <p:sp>
        <p:nvSpPr>
          <p:cNvPr id="10" name="one-bit">
            <a:extLst xmlns:a="http://schemas.openxmlformats.org/drawingml/2006/main">
              <a:ext uri="{FF2B5EF4-FFF2-40B4-BE49-F238E27FC236}">
                <a16:creationId xmlns:a16="http://schemas.microsoft.com/office/drawing/2014/main" id="{95A49075-F07A-408C-9B96-AB41AA8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67100"/>
            <a:ext cx="123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008B70"/>
                </a:solidFill>
              </a:defRPr>
            </a:pPr>
            <a:r>
              <a:rPr sz="8400" b="1">
                <a:solidFill>
                  <a:srgbClr val="008B70"/>
                </a:solidFill>
              </a:rPr>
              <a:t>1</a:t>
            </a:r>
          </a:p>
        </p:txBody>
      </p:sp>
      <p:sp>
        <p:nvSpPr>
          <p:cNvPr id="11" name="yes-no">
            <a:extLst xmlns:a="http://schemas.openxmlformats.org/drawingml/2006/main">
              <a:ext uri="{FF2B5EF4-FFF2-40B4-BE49-F238E27FC236}">
                <a16:creationId xmlns:a16="http://schemas.microsoft.com/office/drawing/2014/main" id="{3D6FFE83-9900-4B7A-8BEE-F5A9B0B0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eligible / not eligible</a:t>
            </a:r>
          </a:p>
        </p:txBody>
      </p:sp>
      <p:sp>
        <p:nvSpPr>
          <p:cNvPr id="12" name="risk">
            <a:extLst xmlns:a="http://schemas.openxmlformats.org/drawingml/2006/main">
              <a:ext uri="{FF2B5EF4-FFF2-40B4-BE49-F238E27FC236}">
                <a16:creationId xmlns:a16="http://schemas.microsoft.com/office/drawing/2014/main" id="{D5E46948-0E1B-4A4C-9767-A8CC01DF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The extra data creates breach risk, compliance work and user distrust without improving the decision.</a:t>
            </a:r>
          </a:p>
        </p:txBody>
      </p:sp>
    </p:spTree>
    <p:extLst>
      <p:ext uri="{BB962C8B-B14F-4D97-AF65-F5344CB8AC3E}">
        <p14:creationId xmlns:p14="http://schemas.microsoft.com/office/powerpoint/2010/main" val="864897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-3">
            <a:extLst xmlns:a="http://schemas.openxmlformats.org/drawingml/2006/main">
              <a:ext uri="{FF2B5EF4-FFF2-40B4-BE49-F238E27FC236}">
                <a16:creationId xmlns:a16="http://schemas.microsoft.com/office/drawing/2014/main" id="{9C3AB869-E205-488D-879B-8EC40FB7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2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3DF30E61-377D-4AFA-815F-B9B9C83B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THE PRIVACY PROMISE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039A7D3-4CB2-4F14-9C73-20D76F7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title-VeilPass dis">
            <a:extLst xmlns:a="http://schemas.openxmlformats.org/drawingml/2006/main">
              <a:ext uri="{FF2B5EF4-FFF2-40B4-BE49-F238E27FC236}">
                <a16:creationId xmlns:a16="http://schemas.microsoft.com/office/drawing/2014/main" id="{DFBBE85B-2CEA-4FDA-A980-7F80C504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90B12"/>
                </a:solidFill>
              </a:defRPr>
            </a:pPr>
            <a:r>
              <a:rPr sz="3225" b="1">
                <a:solidFill>
                  <a:srgbClr val="090B12"/>
                </a:solidFill>
              </a:rPr>
              <a:t>VeilPass discloses the decision, not the credential.</a:t>
            </a:r>
          </a:p>
        </p:txBody>
      </p:sp>
      <p:sp>
        <p:nvSpPr>
          <p:cNvPr id="5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F77D17E0-5934-42C1-82B9-E0F5E53A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2AC7"/>
                </a:solidFill>
              </a:defRPr>
            </a:pPr>
            <a:r>
              <a:rPr sz="900" b="1">
                <a:solidFill>
                  <a:srgbClr val="3F2AC7"/>
                </a:solidFill>
              </a:rPr>
              <a:t>PRIVATE</a:t>
            </a:r>
          </a:p>
        </p:txBody>
      </p:sp>
      <p:sp>
        <p:nvSpPr>
          <p:cNvPr id="6" name="private-facts">
            <a:extLst xmlns:a="http://schemas.openxmlformats.org/drawingml/2006/main">
              <a:ext uri="{FF2B5EF4-FFF2-40B4-BE49-F238E27FC236}">
                <a16:creationId xmlns:a16="http://schemas.microsoft.com/office/drawing/2014/main" id="{ECEEFEA8-5814-4959-988F-8C2AD8C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Birth year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Issuer trust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Random nonce</a:t>
            </a:r>
          </a:p>
        </p:txBody>
      </p:sp>
      <p:sp>
        <p:nvSpPr>
          <p:cNvPr id="7" name="aperture">
            <a:extLst xmlns:a="http://schemas.openxmlformats.org/drawingml/2006/main">
              <a:ext uri="{FF2B5EF4-FFF2-40B4-BE49-F238E27FC236}">
                <a16:creationId xmlns:a16="http://schemas.microsoft.com/office/drawing/2014/main" id="{D7F7F8B9-F1D2-46D5-A996-01DE036D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perture-core">
            <a:extLst xmlns:a="http://schemas.openxmlformats.org/drawingml/2006/main">
              <a:ext uri="{FF2B5EF4-FFF2-40B4-BE49-F238E27FC236}">
                <a16:creationId xmlns:a16="http://schemas.microsoft.com/office/drawing/2014/main" id="{A8A4F5A9-D7EF-47F4-97B1-5D861DB9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956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C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ct">
            <a:extLst xmlns:a="http://schemas.openxmlformats.org/drawingml/2006/main">
              <a:ext uri="{FF2B5EF4-FFF2-40B4-BE49-F238E27FC236}">
                <a16:creationId xmlns:a16="http://schemas.microsoft.com/office/drawing/2014/main" id="{09C5BC24-CB92-4F55-A95F-AA7699C5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1777"/>
                </a:solidFill>
              </a:defRPr>
            </a:pPr>
            <a:r>
              <a:rPr sz="1125" b="1">
                <a:solidFill>
                  <a:srgbClr val="251777"/>
                </a:solidFill>
              </a:rPr>
              <a:t>COMPACT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251777"/>
                </a:solidFill>
              </a:defRPr>
            </a:pPr>
            <a:r>
              <a:rPr sz="1125" b="1">
                <a:solidFill>
                  <a:srgbClr val="251777"/>
                </a:solidFill>
              </a:rPr>
              <a:t>POLICY</a:t>
            </a:r>
          </a:p>
        </p:txBody>
      </p:sp>
      <p:sp>
        <p:nvSpPr>
          <p:cNvPr id="10" name="public-label">
            <a:extLst xmlns:a="http://schemas.openxmlformats.org/drawingml/2006/main">
              <a:ext uri="{FF2B5EF4-FFF2-40B4-BE49-F238E27FC236}">
                <a16:creationId xmlns:a16="http://schemas.microsoft.com/office/drawing/2014/main" id="{1AA0F7AA-7ED7-40B5-92E0-670D5E2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57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8B70"/>
                </a:solidFill>
              </a:defRPr>
            </a:pPr>
            <a:r>
              <a:rPr sz="900" b="1">
                <a:solidFill>
                  <a:srgbClr val="008B70"/>
                </a:solidFill>
              </a:rPr>
              <a:t>PUBLIC</a:t>
            </a:r>
          </a:p>
        </p:txBody>
      </p:sp>
      <p:sp>
        <p:nvSpPr>
          <p:cNvPr id="11" name="public-facts">
            <a:extLst xmlns:a="http://schemas.openxmlformats.org/drawingml/2006/main">
              <a:ext uri="{FF2B5EF4-FFF2-40B4-BE49-F238E27FC236}">
                <a16:creationId xmlns:a16="http://schemas.microsoft.com/office/drawing/2014/main" id="{1F94F985-415E-4A11-B603-B88CD7CF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Eligible: true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Policy: age-18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Issuer verified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E2848210-E559-406F-AEE5-755A34F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054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1777"/>
                </a:solidFill>
              </a:defRPr>
            </a:pPr>
            <a:r>
              <a:rPr sz="1500" b="1">
                <a:solidFill>
                  <a:srgbClr val="251777"/>
                </a:solidFill>
              </a:rPr>
              <a:t>Private witness  →  policy evaluation  →  minimal receipt</a:t>
            </a:r>
          </a:p>
        </p:txBody>
      </p:sp>
    </p:spTree>
    <p:extLst>
      <p:ext uri="{BB962C8B-B14F-4D97-AF65-F5344CB8AC3E}">
        <p14:creationId xmlns:p14="http://schemas.microsoft.com/office/powerpoint/2010/main" val="729281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iolet-edge">
            <a:extLst xmlns:a="http://schemas.openxmlformats.org/drawingml/2006/main">
              <a:ext uri="{FF2B5EF4-FFF2-40B4-BE49-F238E27FC236}">
                <a16:creationId xmlns:a16="http://schemas.microsoft.com/office/drawing/2014/main" id="{9BAF1B80-3E84-4432-A3E9-F554F85B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2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duct-kicker">
            <a:extLst xmlns:a="http://schemas.openxmlformats.org/drawingml/2006/main">
              <a:ext uri="{FF2B5EF4-FFF2-40B4-BE49-F238E27FC236}">
                <a16:creationId xmlns:a16="http://schemas.microsoft.com/office/drawing/2014/main" id="{8BD71B2B-D98E-4B26-A790-FDC36D46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3C9A6"/>
                </a:solidFill>
              </a:defRPr>
            </a:pPr>
            <a:r>
              <a:rPr sz="825" b="1">
                <a:solidFill>
                  <a:srgbClr val="23C9A6"/>
                </a:solidFill>
              </a:rPr>
              <a:t>WORKING PRODUCT</a:t>
            </a:r>
          </a:p>
        </p:txBody>
      </p:sp>
      <p:sp>
        <p:nvSpPr>
          <p:cNvPr id="3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D6B57F1E-920E-4051-9A40-59D2C31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The privacy boundary is visible in one flow.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1b3ccecc743a8"/>
          <a:srcRect xmlns:a="http://schemas.openxmlformats.org/drawingml/2006/main" l="0" t="21417" r="0" b="21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66750" y="1676400"/>
            <a:ext cx="10858500" cy="4362450"/>
          </a:xfrm>
          <a:prstGeom xmlns:a="http://schemas.openxmlformats.org/drawingml/2006/main" prst="round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4B343239-EDD8-4695-92BE-F9D7B33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91150"/>
            <a:ext cx="31051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3C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ption-text">
            <a:extLst xmlns:a="http://schemas.openxmlformats.org/drawingml/2006/main">
              <a:ext uri="{FF2B5EF4-FFF2-40B4-BE49-F238E27FC236}">
                <a16:creationId xmlns:a16="http://schemas.microsoft.com/office/drawing/2014/main" id="{73A0E20A-CE48-461D-9131-369D166E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534025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1777"/>
                </a:solidFill>
              </a:defRPr>
            </a:pPr>
            <a:r>
              <a:rPr sz="1050" b="1">
                <a:solidFill>
                  <a:srgbClr val="251777"/>
                </a:solidFill>
              </a:rPr>
              <a:t>Private input in. Public receipt out.</a:t>
            </a:r>
          </a:p>
        </p:txBody>
      </p:sp>
      <p:sp>
        <p:nvSpPr>
          <p:cNvPr id="7" name="page4">
            <a:extLst xmlns:a="http://schemas.openxmlformats.org/drawingml/2006/main">
              <a:ext uri="{FF2B5EF4-FFF2-40B4-BE49-F238E27FC236}">
                <a16:creationId xmlns:a16="http://schemas.microsoft.com/office/drawing/2014/main" id="{8E895D80-7EB5-4B26-95C4-D17E876E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89CAB"/>
                </a:solidFill>
              </a:defRPr>
            </a:pPr>
            <a:r>
              <a:rPr sz="825" b="1">
                <a:solidFill>
                  <a:srgbClr val="989CAB"/>
                </a:solidFill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261714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-5">
            <a:extLst xmlns:a="http://schemas.openxmlformats.org/drawingml/2006/main">
              <a:ext uri="{FF2B5EF4-FFF2-40B4-BE49-F238E27FC236}">
                <a16:creationId xmlns:a16="http://schemas.microsoft.com/office/drawing/2014/main" id="{3A73CDAD-7744-4770-8A4C-568273C1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2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06E0EA7A-09E6-4503-AC1B-FFBE7C7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COMPACT IMPLEMENTATION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F73C8B2-67B2-4D96-8C42-7612623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title-The circuit ">
            <a:extLst xmlns:a="http://schemas.openxmlformats.org/drawingml/2006/main">
              <a:ext uri="{FF2B5EF4-FFF2-40B4-BE49-F238E27FC236}">
                <a16:creationId xmlns:a16="http://schemas.microsoft.com/office/drawing/2014/main" id="{938BD95A-5ADB-4E6D-8C8F-8A90C4B4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90B12"/>
                </a:solidFill>
              </a:defRPr>
            </a:pPr>
            <a:r>
              <a:rPr sz="3225" b="1">
                <a:solidFill>
                  <a:srgbClr val="090B12"/>
                </a:solidFill>
              </a:rPr>
              <a:t>The circuit stores only the public receipt.</a:t>
            </a:r>
          </a:p>
        </p:txBody>
      </p:sp>
      <p:sp>
        <p:nvSpPr>
          <p:cNvPr id="5" name="code-label">
            <a:extLst xmlns:a="http://schemas.openxmlformats.org/drawingml/2006/main">
              <a:ext uri="{FF2B5EF4-FFF2-40B4-BE49-F238E27FC236}">
                <a16:creationId xmlns:a16="http://schemas.microsoft.com/office/drawing/2014/main" id="{49AA5869-A784-4516-94E2-E2D7F027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F2AC7"/>
                </a:solidFill>
              </a:defRPr>
            </a:pPr>
            <a:r>
              <a:rPr sz="975" b="1">
                <a:solidFill>
                  <a:srgbClr val="3F2AC7"/>
                </a:solidFill>
              </a:rPr>
              <a:t>contract/src/veilpass.compact</a:t>
            </a:r>
          </a:p>
        </p:txBody>
      </p:sp>
      <p:sp>
        <p:nvSpPr>
          <p:cNvPr id="6" name="code-ground">
            <a:extLst xmlns:a="http://schemas.openxmlformats.org/drawingml/2006/main">
              <a:ext uri="{FF2B5EF4-FFF2-40B4-BE49-F238E27FC236}">
                <a16:creationId xmlns:a16="http://schemas.microsoft.com/office/drawing/2014/main" id="{F8327460-00B0-4460-912A-5330004A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9055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03D77FD-A1C3-43B0-90B2-88FC6961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53911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witness getPrivateCredential():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  PrivateCredential;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export ledger proofs: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  Map&lt;ProofId, ProofReceipt&gt;;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const eligible = credential.issuerVerified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  &amp;&amp; credential.birthYear &lt;= cutoffYear;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proofs.insert(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  disclose(proofId),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  disclose(receipt)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3F4F7"/>
                </a:solidFill>
              </a:defRPr>
            </a:pPr>
            <a:r>
              <a:rPr sz="1350" b="0">
                <a:solidFill>
                  <a:srgbClr val="F3F4F7"/>
                </a:solidFill>
              </a:rPr>
              <a:t>);</a:t>
            </a:r>
          </a:p>
        </p:txBody>
      </p:sp>
      <p:sp>
        <p:nvSpPr>
          <p:cNvPr id="8" name="private-head">
            <a:extLst xmlns:a="http://schemas.openxmlformats.org/drawingml/2006/main">
              <a:ext uri="{FF2B5EF4-FFF2-40B4-BE49-F238E27FC236}">
                <a16:creationId xmlns:a16="http://schemas.microsoft.com/office/drawing/2014/main" id="{75286072-6F48-49EC-B5D6-FED0EF6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2AC7"/>
                </a:solidFill>
              </a:defRPr>
            </a:pPr>
            <a:r>
              <a:rPr sz="900" b="1">
                <a:solidFill>
                  <a:srgbClr val="3F2AC7"/>
                </a:solidFill>
              </a:rPr>
              <a:t>STAYS PRIVATE</a:t>
            </a:r>
          </a:p>
        </p:txBody>
      </p:sp>
      <p:sp>
        <p:nvSpPr>
          <p:cNvPr id="9" name="private-list">
            <a:extLst xmlns:a="http://schemas.openxmlformats.org/drawingml/2006/main">
              <a:ext uri="{FF2B5EF4-FFF2-40B4-BE49-F238E27FC236}">
                <a16:creationId xmlns:a16="http://schemas.microsoft.com/office/drawing/2014/main" id="{8DE2D310-ECD9-4FE4-B20D-92765101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0B12"/>
                </a:solidFill>
              </a:defRPr>
            </a:pPr>
            <a:r>
              <a:rPr sz="1875" b="1">
                <a:solidFill>
                  <a:srgbClr val="090B12"/>
                </a:solidFill>
              </a:rPr>
              <a:t>Birth year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90B12"/>
                </a:solidFill>
              </a:defRPr>
            </a:pPr>
            <a:r>
              <a:rPr sz="1875" b="1">
                <a:solidFill>
                  <a:srgbClr val="090B12"/>
                </a:solidFill>
              </a:rPr>
              <a:t>Credential payload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90B12"/>
                </a:solidFill>
              </a:defRPr>
            </a:pPr>
            <a:r>
              <a:rPr sz="1875" b="1">
                <a:solidFill>
                  <a:srgbClr val="090B12"/>
                </a:solidFill>
              </a:rPr>
              <a:t>Proof nonce</a:t>
            </a:r>
          </a:p>
        </p:txBody>
      </p:sp>
      <p:sp>
        <p:nvSpPr>
          <p:cNvPr id="10" name="public-head">
            <a:extLst xmlns:a="http://schemas.openxmlformats.org/drawingml/2006/main">
              <a:ext uri="{FF2B5EF4-FFF2-40B4-BE49-F238E27FC236}">
                <a16:creationId xmlns:a16="http://schemas.microsoft.com/office/drawing/2014/main" id="{B7CEA958-8744-49A1-8166-2847E7FB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8B70"/>
                </a:solidFill>
              </a:defRPr>
            </a:pPr>
            <a:r>
              <a:rPr sz="900" b="1">
                <a:solidFill>
                  <a:srgbClr val="008B70"/>
                </a:solidFill>
              </a:rPr>
              <a:t>BECOMES PUBLIC</a:t>
            </a:r>
          </a:p>
        </p:txBody>
      </p:sp>
      <p:sp>
        <p:nvSpPr>
          <p:cNvPr id="11" name="public-list">
            <a:extLst xmlns:a="http://schemas.openxmlformats.org/drawingml/2006/main">
              <a:ext uri="{FF2B5EF4-FFF2-40B4-BE49-F238E27FC236}">
                <a16:creationId xmlns:a16="http://schemas.microsoft.com/office/drawing/2014/main" id="{F6D33680-4E23-4F25-801D-E478708F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0B12"/>
                </a:solidFill>
              </a:defRPr>
            </a:pPr>
            <a:r>
              <a:rPr sz="1875" b="1">
                <a:solidFill>
                  <a:srgbClr val="090B12"/>
                </a:solidFill>
              </a:rPr>
              <a:t>Eligibility result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90B12"/>
                </a:solidFill>
              </a:defRPr>
            </a:pPr>
            <a:r>
              <a:rPr sz="1875" b="1">
                <a:solidFill>
                  <a:srgbClr val="090B12"/>
                </a:solidFill>
              </a:rPr>
              <a:t>Policy identifier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090B12"/>
                </a:solidFill>
              </a:defRPr>
            </a:pPr>
            <a:r>
              <a:rPr sz="1875" b="1">
                <a:solidFill>
                  <a:srgbClr val="090B12"/>
                </a:solidFill>
              </a:rPr>
              <a:t>Issuer verification</a:t>
            </a:r>
          </a:p>
        </p:txBody>
      </p:sp>
    </p:spTree>
    <p:extLst>
      <p:ext uri="{BB962C8B-B14F-4D97-AF65-F5344CB8AC3E}">
        <p14:creationId xmlns:p14="http://schemas.microsoft.com/office/powerpoint/2010/main" val="1582922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-6">
            <a:extLst xmlns:a="http://schemas.openxmlformats.org/drawingml/2006/main">
              <a:ext uri="{FF2B5EF4-FFF2-40B4-BE49-F238E27FC236}">
                <a16:creationId xmlns:a16="http://schemas.microsoft.com/office/drawing/2014/main" id="{ED983D18-1729-4B76-AF85-019171C9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47B97471-F63C-4A8E-8B5A-5186F7A5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ENGINEERING EVIDENCE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A34F3E46-7050-4408-83F1-37294EA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title-We tested th">
            <a:extLst xmlns:a="http://schemas.openxmlformats.org/drawingml/2006/main">
              <a:ext uri="{FF2B5EF4-FFF2-40B4-BE49-F238E27FC236}">
                <a16:creationId xmlns:a16="http://schemas.microsoft.com/office/drawing/2014/main" id="{01508DF2-A985-4EDA-B2A1-2FCF4BDB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90B12"/>
                </a:solidFill>
              </a:defRPr>
            </a:pPr>
            <a:r>
              <a:rPr sz="3225" b="1">
                <a:solidFill>
                  <a:srgbClr val="090B12"/>
                </a:solidFill>
              </a:rPr>
              <a:t>We tested the boundary, not just the happy path.</a:t>
            </a:r>
          </a:p>
        </p:txBody>
      </p:sp>
      <p:sp>
        <p:nvSpPr>
          <p:cNvPr id="5" name="metric1">
            <a:extLst xmlns:a="http://schemas.openxmlformats.org/drawingml/2006/main">
              <a:ext uri="{FF2B5EF4-FFF2-40B4-BE49-F238E27FC236}">
                <a16:creationId xmlns:a16="http://schemas.microsoft.com/office/drawing/2014/main" id="{AAB37A2B-D53A-47CF-8AA4-912DF7B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3F2AC7"/>
                </a:solidFill>
              </a:defRPr>
            </a:pPr>
            <a:r>
              <a:rPr sz="6600" b="1">
                <a:solidFill>
                  <a:srgbClr val="3F2AC7"/>
                </a:solidFill>
              </a:rPr>
              <a:t>1</a:t>
            </a:r>
          </a:p>
        </p:txBody>
      </p:sp>
      <p:sp>
        <p:nvSpPr>
          <p:cNvPr id="6" name="metric1-label">
            <a:extLst xmlns:a="http://schemas.openxmlformats.org/drawingml/2006/main">
              <a:ext uri="{FF2B5EF4-FFF2-40B4-BE49-F238E27FC236}">
                <a16:creationId xmlns:a16="http://schemas.microsoft.com/office/drawing/2014/main" id="{53789BED-9CDA-4303-88EA-3FA5F747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Compact circuit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compiled</a:t>
            </a:r>
          </a:p>
        </p:txBody>
      </p:sp>
      <p:sp>
        <p:nvSpPr>
          <p:cNvPr id="7" name="metric2">
            <a:extLst xmlns:a="http://schemas.openxmlformats.org/drawingml/2006/main">
              <a:ext uri="{FF2B5EF4-FFF2-40B4-BE49-F238E27FC236}">
                <a16:creationId xmlns:a16="http://schemas.microsoft.com/office/drawing/2014/main" id="{3A1864A9-6A12-4098-9C15-1C1DDF5A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008B70"/>
                </a:solidFill>
              </a:defRPr>
            </a:pPr>
            <a:r>
              <a:rPr sz="6600" b="1">
                <a:solidFill>
                  <a:srgbClr val="008B70"/>
                </a:solidFill>
              </a:rPr>
              <a:t>10</a:t>
            </a:r>
          </a:p>
        </p:txBody>
      </p:sp>
      <p:sp>
        <p:nvSpPr>
          <p:cNvPr id="8" name="metric2-label">
            <a:extLst xmlns:a="http://schemas.openxmlformats.org/drawingml/2006/main">
              <a:ext uri="{FF2B5EF4-FFF2-40B4-BE49-F238E27FC236}">
                <a16:creationId xmlns:a16="http://schemas.microsoft.com/office/drawing/2014/main" id="{227407C5-D557-4271-9D66-ED800CB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contract + privacy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tests passing</a:t>
            </a:r>
          </a:p>
        </p:txBody>
      </p:sp>
      <p:sp>
        <p:nvSpPr>
          <p:cNvPr id="9" name="metric3">
            <a:extLst xmlns:a="http://schemas.openxmlformats.org/drawingml/2006/main">
              <a:ext uri="{FF2B5EF4-FFF2-40B4-BE49-F238E27FC236}">
                <a16:creationId xmlns:a16="http://schemas.microsoft.com/office/drawing/2014/main" id="{4F600702-6C5E-45F0-AAD0-786422D7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3F2AC7"/>
                </a:solidFill>
              </a:defRPr>
            </a:pPr>
            <a:r>
              <a:rPr sz="6600" b="1">
                <a:solidFill>
                  <a:srgbClr val="3F2AC7"/>
                </a:solidFill>
              </a:rPr>
              <a:t>0</a:t>
            </a:r>
          </a:p>
        </p:txBody>
      </p:sp>
      <p:sp>
        <p:nvSpPr>
          <p:cNvPr id="10" name="metric3-label">
            <a:extLst xmlns:a="http://schemas.openxmlformats.org/drawingml/2006/main">
              <a:ext uri="{FF2B5EF4-FFF2-40B4-BE49-F238E27FC236}">
                <a16:creationId xmlns:a16="http://schemas.microsoft.com/office/drawing/2014/main" id="{9854C064-EB7F-4D7A-8406-D5320CF2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high-severity dependency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vulnerabilities</a:t>
            </a:r>
          </a:p>
        </p:txBody>
      </p:sp>
      <p:sp>
        <p:nvSpPr>
          <p:cNvPr id="11" name="metric4">
            <a:extLst xmlns:a="http://schemas.openxmlformats.org/drawingml/2006/main">
              <a:ext uri="{FF2B5EF4-FFF2-40B4-BE49-F238E27FC236}">
                <a16:creationId xmlns:a16="http://schemas.microsoft.com/office/drawing/2014/main" id="{F660AB09-C502-4595-84C2-DA08098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3835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008B70"/>
                </a:solidFill>
              </a:defRPr>
            </a:pPr>
            <a:r>
              <a:rPr sz="6600" b="1">
                <a:solidFill>
                  <a:srgbClr val="008B70"/>
                </a:solidFill>
              </a:rPr>
              <a:t>0</a:t>
            </a:r>
          </a:p>
        </p:txBody>
      </p:sp>
      <p:sp>
        <p:nvSpPr>
          <p:cNvPr id="12" name="metric4-label">
            <a:extLst xmlns:a="http://schemas.openxmlformats.org/drawingml/2006/main">
              <a:ext uri="{FF2B5EF4-FFF2-40B4-BE49-F238E27FC236}">
                <a16:creationId xmlns:a16="http://schemas.microsoft.com/office/drawing/2014/main" id="{142ACFF4-8220-4DC6-B950-F34E430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private fields in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090B12"/>
                </a:solidFill>
              </a:defRPr>
            </a:pPr>
            <a:r>
              <a:rPr sz="1650" b="1">
                <a:solidFill>
                  <a:srgbClr val="090B12"/>
                </a:solidFill>
              </a:rPr>
              <a:t>public</a:t>
            </a:r>
            <a:r>
              <a:rPr sz="1650" b="1">
                <a:solidFill>
                  <a:srgbClr val="090B12"/>
                </a:solidFill>
              </a:rPr>
              <a:t> receipt links</a:t>
            </a:r>
          </a:p>
        </p:txBody>
      </p:sp>
      <p:sp>
        <p:nvSpPr>
          <p:cNvPr id="13" name="proof-rule">
            <a:extLst xmlns:a="http://schemas.openxmlformats.org/drawingml/2006/main">
              <a:ext uri="{FF2B5EF4-FFF2-40B4-BE49-F238E27FC236}">
                <a16:creationId xmlns:a16="http://schemas.microsoft.com/office/drawing/2014/main" id="{D5E5FFE2-4ABB-40D3-A0F2-00F598C9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of-copy">
            <a:extLst xmlns:a="http://schemas.openxmlformats.org/drawingml/2006/main">
              <a:ext uri="{FF2B5EF4-FFF2-40B4-BE49-F238E27FC236}">
                <a16:creationId xmlns:a16="http://schemas.microsoft.com/office/drawing/2014/main" id="{340EA4DD-74A8-4783-8B49-E8CB9D8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Build: production Vite bundle  ·  Flow: create → authenticate → reject tamper  ·  License: Apache 2.0</a:t>
            </a:r>
          </a:p>
        </p:txBody>
      </p:sp>
    </p:spTree>
    <p:extLst>
      <p:ext uri="{BB962C8B-B14F-4D97-AF65-F5344CB8AC3E}">
        <p14:creationId xmlns:p14="http://schemas.microsoft.com/office/powerpoint/2010/main" val="158009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CE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-7">
            <a:extLst xmlns:a="http://schemas.openxmlformats.org/drawingml/2006/main">
              <a:ext uri="{FF2B5EF4-FFF2-40B4-BE49-F238E27FC236}">
                <a16:creationId xmlns:a16="http://schemas.microsoft.com/office/drawing/2014/main" id="{E630C952-0B97-4CB0-94AC-3B6C3269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2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D4A587EC-9373-4719-8E25-968A6789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PRODUCT POTENTIAL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4F1BD1B4-6EAF-4C48-A57B-CB6E7B0D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title-One disclosu">
            <a:extLst xmlns:a="http://schemas.openxmlformats.org/drawingml/2006/main">
              <a:ext uri="{FF2B5EF4-FFF2-40B4-BE49-F238E27FC236}">
                <a16:creationId xmlns:a16="http://schemas.microsoft.com/office/drawing/2014/main" id="{4B0CF27B-6D11-4DEE-8C60-6C1517B9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90B12"/>
                </a:solidFill>
              </a:defRPr>
            </a:pPr>
            <a:r>
              <a:rPr sz="3225" b="1">
                <a:solidFill>
                  <a:srgbClr val="090B12"/>
                </a:solidFill>
              </a:rPr>
              <a:t>One disclosure primitive supports many policies.</a:t>
            </a:r>
          </a:p>
        </p:txBody>
      </p:sp>
      <p:sp>
        <p:nvSpPr>
          <p:cNvPr id="5" name="policy-core">
            <a:extLst xmlns:a="http://schemas.openxmlformats.org/drawingml/2006/main">
              <a:ext uri="{FF2B5EF4-FFF2-40B4-BE49-F238E27FC236}">
                <a16:creationId xmlns:a16="http://schemas.microsoft.com/office/drawing/2014/main" id="{75E395E4-F1CC-4900-9610-74CD318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1777"/>
                </a:solidFill>
              </a:defRPr>
            </a:pPr>
            <a:r>
              <a:rPr sz="2550" b="1">
                <a:solidFill>
                  <a:srgbClr val="251777"/>
                </a:solidFill>
              </a:rPr>
              <a:t>PROVE A POLICY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251777"/>
                </a:solidFill>
              </a:defRPr>
            </a:pPr>
            <a:r>
              <a:rPr sz="2550" b="1">
                <a:solidFill>
                  <a:srgbClr val="251777"/>
                </a:solidFill>
              </a:rPr>
              <a:t>WITHOUT SHARING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251777"/>
                </a:solidFill>
              </a:defRPr>
            </a:pPr>
            <a:r>
              <a:rPr sz="2550" b="1">
                <a:solidFill>
                  <a:srgbClr val="251777"/>
                </a:solidFill>
              </a:rPr>
              <a:t>THE SOURCE FACTS</a:t>
            </a:r>
          </a:p>
        </p:txBody>
      </p:sp>
      <p:sp>
        <p:nvSpPr>
          <p:cNvPr id="6" name="label-0">
            <a:extLst xmlns:a="http://schemas.openxmlformats.org/drawingml/2006/main">
              <a:ext uri="{FF2B5EF4-FFF2-40B4-BE49-F238E27FC236}">
                <a16:creationId xmlns:a16="http://schemas.microsoft.com/office/drawing/2014/main" id="{06D44389-2D31-4F1F-84BE-E8BF3AD7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2AC7"/>
                </a:solidFill>
              </a:defRPr>
            </a:pPr>
            <a:r>
              <a:rPr sz="900" b="1">
                <a:solidFill>
                  <a:srgbClr val="3F2AC7"/>
                </a:solidFill>
              </a:rPr>
              <a:t>AGE</a:t>
            </a:r>
          </a:p>
        </p:txBody>
      </p:sp>
      <p:sp>
        <p:nvSpPr>
          <p:cNvPr id="7" name="value-0">
            <a:extLst xmlns:a="http://schemas.openxmlformats.org/drawingml/2006/main">
              <a:ext uri="{FF2B5EF4-FFF2-40B4-BE49-F238E27FC236}">
                <a16:creationId xmlns:a16="http://schemas.microsoft.com/office/drawing/2014/main" id="{C711102F-FCF8-4D9C-A800-BBC6AFAB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18+ access</a:t>
            </a:r>
          </a:p>
        </p:txBody>
      </p:sp>
      <p:sp>
        <p:nvSpPr>
          <p:cNvPr id="8" name="rule-0">
            <a:extLst xmlns:a="http://schemas.openxmlformats.org/drawingml/2006/main">
              <a:ext uri="{FF2B5EF4-FFF2-40B4-BE49-F238E27FC236}">
                <a16:creationId xmlns:a16="http://schemas.microsoft.com/office/drawing/2014/main" id="{32F1D92C-0D55-4581-9355-E71B17CD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A6D543F2-98CE-41CF-A1AC-CEBA2687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8B70"/>
                </a:solidFill>
              </a:defRPr>
            </a:pPr>
            <a:r>
              <a:rPr sz="900" b="1">
                <a:solidFill>
                  <a:srgbClr val="008B70"/>
                </a:solidFill>
              </a:rPr>
              <a:t>MEMBERSHIP</a:t>
            </a:r>
          </a:p>
        </p:txBody>
      </p:sp>
      <p:sp>
        <p:nvSpPr>
          <p:cNvPr id="10" name="value-1">
            <a:extLst xmlns:a="http://schemas.openxmlformats.org/drawingml/2006/main">
              <a:ext uri="{FF2B5EF4-FFF2-40B4-BE49-F238E27FC236}">
                <a16:creationId xmlns:a16="http://schemas.microsoft.com/office/drawing/2014/main" id="{2522CA9B-7BA7-46C9-8D50-997F02A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active member</a:t>
            </a:r>
          </a:p>
        </p:txBody>
      </p:sp>
      <p:sp>
        <p:nvSpPr>
          <p:cNvPr id="11" name="rule-1">
            <a:extLst xmlns:a="http://schemas.openxmlformats.org/drawingml/2006/main">
              <a:ext uri="{FF2B5EF4-FFF2-40B4-BE49-F238E27FC236}">
                <a16:creationId xmlns:a16="http://schemas.microsoft.com/office/drawing/2014/main" id="{0A613867-EF92-419E-9070-12DF5396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-2">
            <a:extLst xmlns:a="http://schemas.openxmlformats.org/drawingml/2006/main">
              <a:ext uri="{FF2B5EF4-FFF2-40B4-BE49-F238E27FC236}">
                <a16:creationId xmlns:a16="http://schemas.microsoft.com/office/drawing/2014/main" id="{E085D595-C110-476E-AB44-4071316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2AC7"/>
                </a:solidFill>
              </a:defRPr>
            </a:pPr>
            <a:r>
              <a:rPr sz="900" b="1">
                <a:solidFill>
                  <a:srgbClr val="3F2AC7"/>
                </a:solidFill>
              </a:rPr>
              <a:t>LICENSING</a:t>
            </a:r>
          </a:p>
        </p:txBody>
      </p:sp>
      <p:sp>
        <p:nvSpPr>
          <p:cNvPr id="13" name="value-2">
            <a:extLst xmlns:a="http://schemas.openxmlformats.org/drawingml/2006/main">
              <a:ext uri="{FF2B5EF4-FFF2-40B4-BE49-F238E27FC236}">
                <a16:creationId xmlns:a16="http://schemas.microsoft.com/office/drawing/2014/main" id="{1911B554-9E20-4F77-8E1C-BC686D6C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credential valid</a:t>
            </a:r>
          </a:p>
        </p:txBody>
      </p:sp>
      <p:sp>
        <p:nvSpPr>
          <p:cNvPr id="14" name="rule-2">
            <a:extLst xmlns:a="http://schemas.openxmlformats.org/drawingml/2006/main">
              <a:ext uri="{FF2B5EF4-FFF2-40B4-BE49-F238E27FC236}">
                <a16:creationId xmlns:a16="http://schemas.microsoft.com/office/drawing/2014/main" id="{D6399541-C61A-43E0-8960-FBA56BD6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3">
            <a:extLst xmlns:a="http://schemas.openxmlformats.org/drawingml/2006/main">
              <a:ext uri="{FF2B5EF4-FFF2-40B4-BE49-F238E27FC236}">
                <a16:creationId xmlns:a16="http://schemas.microsoft.com/office/drawing/2014/main" id="{53EF03AC-D86D-45D2-B48E-0C30C03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8B70"/>
                </a:solidFill>
              </a:defRPr>
            </a:pPr>
            <a:r>
              <a:rPr sz="900" b="1">
                <a:solidFill>
                  <a:srgbClr val="008B70"/>
                </a:solidFill>
              </a:rPr>
              <a:t>COMPLIANCE</a:t>
            </a:r>
          </a:p>
        </p:txBody>
      </p:sp>
      <p:sp>
        <p:nvSpPr>
          <p:cNvPr id="16" name="value-3">
            <a:extLst xmlns:a="http://schemas.openxmlformats.org/drawingml/2006/main">
              <a:ext uri="{FF2B5EF4-FFF2-40B4-BE49-F238E27FC236}">
                <a16:creationId xmlns:a16="http://schemas.microsoft.com/office/drawing/2014/main" id="{3744C37E-22BA-4533-94EA-227203C8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0B12"/>
                </a:solidFill>
              </a:defRPr>
            </a:pPr>
            <a:r>
              <a:rPr sz="2100" b="1">
                <a:solidFill>
                  <a:srgbClr val="090B12"/>
                </a:solidFill>
              </a:rPr>
              <a:t>rule satisfied</a:t>
            </a:r>
          </a:p>
        </p:txBody>
      </p:sp>
      <p:sp>
        <p:nvSpPr>
          <p:cNvPr id="17" name="sdk">
            <a:extLst xmlns:a="http://schemas.openxmlformats.org/drawingml/2006/main">
              <a:ext uri="{FF2B5EF4-FFF2-40B4-BE49-F238E27FC236}">
                <a16:creationId xmlns:a16="http://schemas.microsoft.com/office/drawing/2014/main" id="{BD3DA338-34A5-4C1E-B57A-16321DCA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A production verifier SDK can fit existing checkout and access-control flows.</a:t>
            </a:r>
          </a:p>
        </p:txBody>
      </p:sp>
    </p:spTree>
    <p:extLst>
      <p:ext uri="{BB962C8B-B14F-4D97-AF65-F5344CB8AC3E}">
        <p14:creationId xmlns:p14="http://schemas.microsoft.com/office/powerpoint/2010/main" val="1490724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517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mint-left">
            <a:extLst xmlns:a="http://schemas.openxmlformats.org/drawingml/2006/main">
              <a:ext uri="{FF2B5EF4-FFF2-40B4-BE49-F238E27FC236}">
                <a16:creationId xmlns:a16="http://schemas.microsoft.com/office/drawing/2014/main" id="{F65F8916-418F-48AC-AEC0-A0E78A3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9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EBB3424-B50F-4146-B15F-AB866C9B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3C9A6"/>
                </a:solidFill>
              </a:defRPr>
            </a:pPr>
            <a:r>
              <a:rPr sz="900" b="1">
                <a:solidFill>
                  <a:srgbClr val="23C9A6"/>
                </a:solidFill>
              </a:rPr>
              <a:t>NEXT: MIDNIGHT PREPROD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F67F3E3-442E-4E17-8796-2DE35001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Take VeilPass from generated Compact runtime to live proofs.</a:t>
            </a:r>
          </a:p>
        </p:txBody>
      </p:sp>
      <p:sp>
        <p:nvSpPr>
          <p:cNvPr id="4" name="step-n-0">
            <a:extLst xmlns:a="http://schemas.openxmlformats.org/drawingml/2006/main">
              <a:ext uri="{FF2B5EF4-FFF2-40B4-BE49-F238E27FC236}">
                <a16:creationId xmlns:a16="http://schemas.microsoft.com/office/drawing/2014/main" id="{F6C4FD61-743E-4495-A795-6CA0571D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C9A6"/>
                </a:solidFill>
              </a:defRPr>
            </a:pPr>
            <a:r>
              <a:rPr sz="1050" b="1">
                <a:solidFill>
                  <a:srgbClr val="23C9A6"/>
                </a:solidFill>
              </a:rPr>
              <a:t>01</a:t>
            </a:r>
          </a:p>
        </p:txBody>
      </p:sp>
      <p:sp>
        <p:nvSpPr>
          <p:cNvPr id="5" name="step-h-0">
            <a:extLst xmlns:a="http://schemas.openxmlformats.org/drawingml/2006/main">
              <a:ext uri="{FF2B5EF4-FFF2-40B4-BE49-F238E27FC236}">
                <a16:creationId xmlns:a16="http://schemas.microsoft.com/office/drawing/2014/main" id="{01230B0D-A959-42BC-9DBC-B84F1DA6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Connect Lace</a:t>
            </a:r>
          </a:p>
        </p:txBody>
      </p:sp>
      <p:sp>
        <p:nvSpPr>
          <p:cNvPr id="6" name="step-d-0">
            <a:extLst xmlns:a="http://schemas.openxmlformats.org/drawingml/2006/main">
              <a:ext uri="{FF2B5EF4-FFF2-40B4-BE49-F238E27FC236}">
                <a16:creationId xmlns:a16="http://schemas.microsoft.com/office/drawing/2014/main" id="{84BD52CF-7BFA-46D0-BC1D-5FFB8073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FC9FF"/>
                </a:solidFill>
              </a:defRPr>
            </a:pPr>
            <a:r>
              <a:rPr sz="1275" b="0">
                <a:solidFill>
                  <a:srgbClr val="CFC9FF"/>
                </a:solidFill>
              </a:rPr>
              <a:t>Funded Preprod wallet</a:t>
            </a:r>
          </a:p>
        </p:txBody>
      </p:sp>
      <p:sp>
        <p:nvSpPr>
          <p:cNvPr id="7" name="step-n-1">
            <a:extLst xmlns:a="http://schemas.openxmlformats.org/drawingml/2006/main">
              <a:ext uri="{FF2B5EF4-FFF2-40B4-BE49-F238E27FC236}">
                <a16:creationId xmlns:a16="http://schemas.microsoft.com/office/drawing/2014/main" id="{7AD64B14-2A5B-4658-B14F-189C25D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C9A6"/>
                </a:solidFill>
              </a:defRPr>
            </a:pPr>
            <a:r>
              <a:rPr sz="1050" b="1">
                <a:solidFill>
                  <a:srgbClr val="23C9A6"/>
                </a:solidFill>
              </a:rPr>
              <a:t>02</a:t>
            </a:r>
          </a:p>
        </p:txBody>
      </p:sp>
      <p:sp>
        <p:nvSpPr>
          <p:cNvPr id="8" name="step-h-1">
            <a:extLst xmlns:a="http://schemas.openxmlformats.org/drawingml/2006/main">
              <a:ext uri="{FF2B5EF4-FFF2-40B4-BE49-F238E27FC236}">
                <a16:creationId xmlns:a16="http://schemas.microsoft.com/office/drawing/2014/main" id="{1C8A650E-06DE-4E4B-94C5-CE78C3BF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Deploy contract</a:t>
            </a:r>
          </a:p>
        </p:txBody>
      </p:sp>
      <p:sp>
        <p:nvSpPr>
          <p:cNvPr id="9" name="step-d-1">
            <a:extLst xmlns:a="http://schemas.openxmlformats.org/drawingml/2006/main">
              <a:ext uri="{FF2B5EF4-FFF2-40B4-BE49-F238E27FC236}">
                <a16:creationId xmlns:a16="http://schemas.microsoft.com/office/drawing/2014/main" id="{86821B9D-2A81-44E9-8294-175BFB5F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FC9FF"/>
                </a:solidFill>
              </a:defRPr>
            </a:pPr>
            <a:r>
              <a:rPr sz="1275" b="0">
                <a:solidFill>
                  <a:srgbClr val="CFC9FF"/>
                </a:solidFill>
              </a:rPr>
              <a:t>Publish contract address</a:t>
            </a:r>
          </a:p>
        </p:txBody>
      </p:sp>
      <p:sp>
        <p:nvSpPr>
          <p:cNvPr id="10" name="step-n-2">
            <a:extLst xmlns:a="http://schemas.openxmlformats.org/drawingml/2006/main">
              <a:ext uri="{FF2B5EF4-FFF2-40B4-BE49-F238E27FC236}">
                <a16:creationId xmlns:a16="http://schemas.microsoft.com/office/drawing/2014/main" id="{981A2F0B-6A19-41EB-A1BB-B7582E7F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C9A6"/>
                </a:solidFill>
              </a:defRPr>
            </a:pPr>
            <a:r>
              <a:rPr sz="1050" b="1">
                <a:solidFill>
                  <a:srgbClr val="23C9A6"/>
                </a:solidFill>
              </a:rPr>
              <a:t>03</a:t>
            </a:r>
          </a:p>
        </p:txBody>
      </p:sp>
      <p:sp>
        <p:nvSpPr>
          <p:cNvPr id="11" name="step-h-2">
            <a:extLst xmlns:a="http://schemas.openxmlformats.org/drawingml/2006/main">
              <a:ext uri="{FF2B5EF4-FFF2-40B4-BE49-F238E27FC236}">
                <a16:creationId xmlns:a16="http://schemas.microsoft.com/office/drawing/2014/main" id="{9F7E70FB-8404-4580-84E1-3B7B6353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Wire proof server</a:t>
            </a:r>
          </a:p>
        </p:txBody>
      </p:sp>
      <p:sp>
        <p:nvSpPr>
          <p:cNvPr id="12" name="step-d-2">
            <a:extLst xmlns:a="http://schemas.openxmlformats.org/drawingml/2006/main">
              <a:ext uri="{FF2B5EF4-FFF2-40B4-BE49-F238E27FC236}">
                <a16:creationId xmlns:a16="http://schemas.microsoft.com/office/drawing/2014/main" id="{E30FF952-ABC2-4B37-9CB9-E671C8F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FC9FF"/>
                </a:solidFill>
              </a:defRPr>
            </a:pPr>
            <a:r>
              <a:rPr sz="1275" b="0">
                <a:solidFill>
                  <a:srgbClr val="CFC9FF"/>
                </a:solidFill>
              </a:rPr>
              <a:t>Generate live ZK proofs</a:t>
            </a:r>
          </a:p>
        </p:txBody>
      </p:sp>
      <p:sp>
        <p:nvSpPr>
          <p:cNvPr id="13" name="step-n-3">
            <a:extLst xmlns:a="http://schemas.openxmlformats.org/drawingml/2006/main">
              <a:ext uri="{FF2B5EF4-FFF2-40B4-BE49-F238E27FC236}">
                <a16:creationId xmlns:a16="http://schemas.microsoft.com/office/drawing/2014/main" id="{6644807B-6C97-4FAA-A757-0642923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C9A6"/>
                </a:solidFill>
              </a:defRPr>
            </a:pPr>
            <a:r>
              <a:rPr sz="1050" b="1">
                <a:solidFill>
                  <a:srgbClr val="23C9A6"/>
                </a:solidFill>
              </a:rPr>
              <a:t>04</a:t>
            </a:r>
          </a:p>
        </p:txBody>
      </p:sp>
      <p:sp>
        <p:nvSpPr>
          <p:cNvPr id="14" name="step-h-3">
            <a:extLst xmlns:a="http://schemas.openxmlformats.org/drawingml/2006/main">
              <a:ext uri="{FF2B5EF4-FFF2-40B4-BE49-F238E27FC236}">
                <a16:creationId xmlns:a16="http://schemas.microsoft.com/office/drawing/2014/main" id="{F671B404-8C1D-401B-90A6-370DDE0F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Integrate issuer</a:t>
            </a:r>
          </a:p>
        </p:txBody>
      </p:sp>
      <p:sp>
        <p:nvSpPr>
          <p:cNvPr id="15" name="step-d-3">
            <a:extLst xmlns:a="http://schemas.openxmlformats.org/drawingml/2006/main">
              <a:ext uri="{FF2B5EF4-FFF2-40B4-BE49-F238E27FC236}">
                <a16:creationId xmlns:a16="http://schemas.microsoft.com/office/drawing/2014/main" id="{D45DB89D-FFA5-4622-AE2D-4400C4AA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671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FC9FF"/>
                </a:solidFill>
              </a:defRPr>
            </a:pPr>
            <a:r>
              <a:rPr sz="1275" b="0">
                <a:solidFill>
                  <a:srgbClr val="CFC9FF"/>
                </a:solidFill>
              </a:rPr>
              <a:t>Replace test issuer fixture</a:t>
            </a:r>
          </a:p>
        </p:txBody>
      </p:sp>
      <p:sp>
        <p:nvSpPr>
          <p:cNvPr id="16" name="close-line">
            <a:extLst xmlns:a="http://schemas.openxmlformats.org/drawingml/2006/main">
              <a:ext uri="{FF2B5EF4-FFF2-40B4-BE49-F238E27FC236}">
                <a16:creationId xmlns:a16="http://schemas.microsoft.com/office/drawing/2014/main" id="{A4164D22-BAD7-4674-BADD-5B4D9809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9B1F4"/>
                </a:solidFill>
              </a:defRPr>
            </a:pPr>
            <a:r>
              <a:rPr sz="975" b="1">
                <a:solidFill>
                  <a:srgbClr val="B9B1F4"/>
                </a:solidFill>
              </a:rPr>
              <a:t>VEILPASS  ·  APACHE 2.0  ·  MIDNIGHT BUILDATHON</a:t>
            </a:r>
          </a:p>
        </p:txBody>
      </p:sp>
      <p:sp>
        <p:nvSpPr>
          <p:cNvPr id="17" name="close-counter">
            <a:extLst xmlns:a="http://schemas.openxmlformats.org/drawingml/2006/main">
              <a:ext uri="{FF2B5EF4-FFF2-40B4-BE49-F238E27FC236}">
                <a16:creationId xmlns:a16="http://schemas.microsoft.com/office/drawing/2014/main" id="{59C76C3F-6B8E-432D-B115-E048EA33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72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9B1F4"/>
                </a:solidFill>
              </a:defRPr>
            </a:pPr>
            <a:r>
              <a:rPr sz="975" b="1">
                <a:solidFill>
                  <a:srgbClr val="B9B1F4"/>
                </a:solidFill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075846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2026-08-25T08:29:20.0900000Z</dcterms:created>
  <dcterms:modified xsi:type="dcterms:W3CDTF">2026-08-25T08:29:20.0900000Z</dcterms:modified>
</coreProperties>
</file>